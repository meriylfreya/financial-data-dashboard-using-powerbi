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12</c:v>
                </c:pt>
                <c:pt idx="8">
                  <c:v>14</c:v>
                </c:pt>
                <c:pt idx="9">
                  <c:v>24</c:v>
                </c:pt>
                <c:pt idx="10">
                  <c:v>18</c:v>
                </c:pt>
                <c:pt idx="11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7B-4CCB-961D-DE60B38E73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(M)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France</c:v>
                </c:pt>
                <c:pt idx="1">
                  <c:v>Germany</c:v>
                </c:pt>
                <c:pt idx="2">
                  <c:v>Canada</c:v>
                </c:pt>
                <c:pt idx="3">
                  <c:v>USA</c:v>
                </c:pt>
                <c:pt idx="4">
                  <c:v>Mexico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4.0999999999999996</c:v>
                </c:pt>
                <c:pt idx="1">
                  <c:v>3.8</c:v>
                </c:pt>
                <c:pt idx="2">
                  <c:v>2.5</c:v>
                </c:pt>
                <c:pt idx="3">
                  <c:v>1.9</c:v>
                </c:pt>
                <c:pt idx="4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FD-40D7-ACB7-81FA29D570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Paseo</c:v>
                </c:pt>
                <c:pt idx="1">
                  <c:v>VTT</c:v>
                </c:pt>
                <c:pt idx="2">
                  <c:v>Velo</c:v>
                </c:pt>
                <c:pt idx="3">
                  <c:v>Amarilla</c:v>
                </c:pt>
                <c:pt idx="4">
                  <c:v>Montana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26</c:v>
                </c:pt>
                <c:pt idx="2">
                  <c:v>22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5A-47B0-A8C1-546FF5393B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Gov</c:v>
                </c:pt>
                <c:pt idx="1">
                  <c:v>Small Biz</c:v>
                </c:pt>
                <c:pt idx="2">
                  <c:v>Enterprise</c:v>
                </c:pt>
                <c:pt idx="3">
                  <c:v>Midmarket</c:v>
                </c:pt>
                <c:pt idx="4">
                  <c:v>Channel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36</c:v>
                </c:pt>
                <c:pt idx="2">
                  <c:v>17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79-4E1F-B2E1-748F3BBCC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59" y="854945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850"/>
                </a:solidFill>
              </a:rPr>
              <a:t>Executive Financial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59" y="1371600"/>
            <a:ext cx="102825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S</a:t>
            </a:r>
            <a:r>
              <a:rPr sz="2200" dirty="0" err="1"/>
              <a:t>ummary</a:t>
            </a:r>
            <a:r>
              <a:rPr sz="2200" dirty="0"/>
              <a:t> of sales, profit, markets, products and segment performance.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D99A7B9-B5A4-3C3E-3F00-3F1153DB9D8C}"/>
              </a:ext>
            </a:extLst>
          </p:cNvPr>
          <p:cNvGrpSpPr/>
          <p:nvPr/>
        </p:nvGrpSpPr>
        <p:grpSpPr>
          <a:xfrm>
            <a:off x="365759" y="2357763"/>
            <a:ext cx="8782870" cy="1071237"/>
            <a:chOff x="1645920" y="3246120"/>
            <a:chExt cx="539496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1645920" y="3246120"/>
              <a:ext cx="1280160" cy="914400"/>
            </a:xfrm>
            <a:prstGeom prst="round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691640" y="3383280"/>
              <a:ext cx="11887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000" b="1" dirty="0">
                  <a:solidFill>
                    <a:srgbClr val="FFFFFF"/>
                  </a:solidFill>
                </a:rPr>
                <a:t>118.73M</a:t>
              </a:r>
            </a:p>
            <a:p>
              <a:r>
                <a:rPr sz="1000" dirty="0">
                  <a:solidFill>
                    <a:srgbClr val="DCDCDC"/>
                  </a:solidFill>
                </a:rPr>
                <a:t>Total Sales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017520" y="3246120"/>
              <a:ext cx="1280160" cy="914400"/>
            </a:xfrm>
            <a:prstGeom prst="round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63240" y="3383280"/>
              <a:ext cx="11887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000" b="1" dirty="0">
                  <a:solidFill>
                    <a:srgbClr val="FFFFFF"/>
                  </a:solidFill>
                </a:rPr>
                <a:t>16.89M</a:t>
              </a:r>
            </a:p>
            <a:p>
              <a:r>
                <a:rPr sz="1000" dirty="0">
                  <a:solidFill>
                    <a:srgbClr val="DCDCDC"/>
                  </a:solidFill>
                </a:rPr>
                <a:t>Total Profit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389120" y="3246120"/>
              <a:ext cx="1280160" cy="914400"/>
            </a:xfrm>
            <a:prstGeom prst="round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34840" y="3383280"/>
              <a:ext cx="11887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000" b="1">
                  <a:solidFill>
                    <a:srgbClr val="FFFFFF"/>
                  </a:solidFill>
                </a:rPr>
                <a:t>1.13M</a:t>
              </a:r>
            </a:p>
            <a:p>
              <a:r>
                <a:rPr sz="1000">
                  <a:solidFill>
                    <a:srgbClr val="DCDCDC"/>
                  </a:solidFill>
                </a:rPr>
                <a:t>Units Sold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760720" y="3246120"/>
              <a:ext cx="1280160" cy="914400"/>
            </a:xfrm>
            <a:prstGeom prst="round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06440" y="3383280"/>
              <a:ext cx="118872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000" b="1" dirty="0">
                  <a:solidFill>
                    <a:srgbClr val="FFFFFF"/>
                  </a:solidFill>
                </a:rPr>
                <a:t>14%</a:t>
              </a:r>
            </a:p>
            <a:p>
              <a:r>
                <a:rPr sz="1000" dirty="0">
                  <a:solidFill>
                    <a:srgbClr val="DCDCDC"/>
                  </a:solidFill>
                </a:rPr>
                <a:t>Profit Margin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2636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850"/>
                </a:solidFill>
              </a:rPr>
              <a:t>Sales Trends and Seasonality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91440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46741"/>
            <a:ext cx="46634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• Sales accelerate in Q4, led by October and December.</a:t>
            </a:r>
          </a:p>
          <a:p>
            <a:r>
              <a:rPr sz="2000" dirty="0"/>
              <a:t>• Mid-year performance remains stable with gradual growth.</a:t>
            </a:r>
          </a:p>
          <a:p>
            <a:r>
              <a:rPr sz="2000" dirty="0"/>
              <a:t>• Strong seasonality suggests year-end campaigns are effective.</a:t>
            </a:r>
          </a:p>
          <a:p>
            <a:r>
              <a:rPr sz="2000" dirty="0"/>
              <a:t>• Inventory planning should prioritize October–December.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850"/>
                </a:solidFill>
              </a:rPr>
              <a:t>Market Performance by Country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91440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694527"/>
            <a:ext cx="43289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• France and Germany are the strongest profit centers.</a:t>
            </a:r>
          </a:p>
          <a:p>
            <a:r>
              <a:rPr sz="2000" dirty="0"/>
              <a:t>• Canada provides healthy secondary contribution.</a:t>
            </a:r>
          </a:p>
          <a:p>
            <a:r>
              <a:rPr sz="2000" dirty="0"/>
              <a:t>• Mexico underperforms and may need targeted expansion.</a:t>
            </a:r>
          </a:p>
          <a:p>
            <a:r>
              <a:rPr sz="2000" dirty="0"/>
              <a:t>• Resource allocation should favor high-margin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850"/>
                </a:solidFill>
              </a:rPr>
              <a:t>Products and Customer Segments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91440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217920" y="91440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44424"/>
            <a:ext cx="11291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Paseo is the lead product, while Government and Small Business segments generate most revenue. Concentration risk exists, but focused account management can deepen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142850"/>
                </a:solidFill>
              </a:rP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8268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1. Increase marketing and stock availability ahead of Q4 demand peaks.</a:t>
            </a:r>
          </a:p>
          <a:p>
            <a:r>
              <a:rPr sz="2000" dirty="0"/>
              <a:t>2. Protect margins by reviewing discount-heavy deals and low-yield accounts.</a:t>
            </a:r>
          </a:p>
          <a:p>
            <a:r>
              <a:rPr sz="2000" dirty="0"/>
              <a:t>3. Double down on France and Germany with retention and upsell programs.</a:t>
            </a:r>
          </a:p>
          <a:p>
            <a:r>
              <a:rPr sz="2000" dirty="0"/>
              <a:t>4. Expand high-performing products while pruning weak performers.</a:t>
            </a:r>
          </a:p>
          <a:p>
            <a:r>
              <a:rPr sz="2000" dirty="0"/>
              <a:t>5. Build dashboards for monthly executive review and early risk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218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Meriyl</dc:creator>
  <cp:keywords/>
  <dc:description>generated using python-pptx</dc:description>
  <cp:lastModifiedBy>Meriyl Freya Sequeira</cp:lastModifiedBy>
  <cp:revision>2</cp:revision>
  <dcterms:created xsi:type="dcterms:W3CDTF">2013-01-27T09:14:16Z</dcterms:created>
  <dcterms:modified xsi:type="dcterms:W3CDTF">2026-04-14T12:30:03Z</dcterms:modified>
  <cp:category/>
</cp:coreProperties>
</file>